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564B31-343D-43FA-9D96-6C701AF4FD79}" v="5" dt="2026-08-28T13:42:40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Calibri"/>
              </a:rPr>
              <a:t>Churn Rate by Subscription Plan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Basic</c:v>
                </c:pt>
                <c:pt idx="1">
                  <c:v>Standard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25.23</c:v>
                </c:pt>
                <c:pt idx="1">
                  <c:v>14.95</c:v>
                </c:pt>
                <c:pt idx="2">
                  <c:v>7.58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4D64-99DE-0DE3B8256F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A0A0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0A0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Calibri"/>
              </a:rPr>
              <a:t>Avg. Watch Time per Session (minutes)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Watch Time (min/session)</c:v>
                </c:pt>
              </c:strCache>
            </c:strRef>
          </c:tx>
          <c:spPr>
            <a:solidFill>
              <a:srgbClr val="D9B3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13-4EA1-B603-30687C8D1B2F}"/>
              </c:ext>
            </c:extLst>
          </c:dPt>
          <c:dPt>
            <c:idx val="1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13-4EA1-B603-30687C8D1B2F}"/>
              </c:ext>
            </c:extLst>
          </c:dPt>
          <c:dLbls>
            <c:numFmt formatCode="0.0&quot; min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Active Customers</c:v>
                </c:pt>
                <c:pt idx="1">
                  <c:v>Cancelled Customers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87.1</c:v>
                </c:pt>
                <c:pt idx="1">
                  <c:v>75.099999999999994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13-4EA1-B603-30687C8D1B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A0A0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0A0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Calibri"/>
              </a:rPr>
              <a:t>Content Type Consumption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Content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A48-44AE-A0FF-5EEAF24D7FA1}"/>
              </c:ext>
            </c:extLst>
          </c:dPt>
          <c:dPt>
            <c:idx val="1"/>
            <c:bubble3D val="0"/>
            <c:spPr>
              <a:solidFill>
                <a:srgbClr val="221F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A48-44AE-A0FF-5EEAF24D7FA1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A48-44AE-A0FF-5EEAF24D7FA1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A48-44AE-A0FF-5EEAF24D7FA1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Series</c:v>
                </c:pt>
                <c:pt idx="1">
                  <c:v>Films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54.81</c:v>
                </c:pt>
                <c:pt idx="1">
                  <c:v>45.19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A48-44AE-A0FF-5EEAF24D7F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B3B3B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0A0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Calibri"/>
              </a:rPr>
              <a:t>Device Usage — TV Leads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Device Usage</c:v>
                </c:pt>
              </c:strCache>
            </c:strRef>
          </c:tx>
          <c:spPr>
            <a:solidFill>
              <a:srgbClr val="D9B30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TV</c:v>
                </c:pt>
                <c:pt idx="1">
                  <c:v>Mobile</c:v>
                </c:pt>
                <c:pt idx="2">
                  <c:v>Laptop</c:v>
                </c:pt>
                <c:pt idx="3">
                  <c:v>Tablet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38-4C9D-B3B4-514A18852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0A0A0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0A0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US" sz="1150" b="0" i="0" u="none" strike="noStrike">
                <a:solidFill>
                  <a:srgbClr val="FFFFFF"/>
                </a:solidFill>
                <a:latin typeface="Calibri"/>
              </a:rPr>
              <a:t>Age Group Distribution — Relatively Balanced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 Group</c:v>
                </c:pt>
              </c:strCache>
            </c:strRef>
          </c:tx>
          <c:spPr>
            <a:solidFill>
              <a:srgbClr val="B3B3B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21</c:v>
                </c:pt>
                <c:pt idx="2">
                  <c:v>20</c:v>
                </c:pt>
                <c:pt idx="3">
                  <c:v>19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55-44A5-A821-8B2C7B6731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A0A0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0A0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456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E5091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E50914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kern="0" spc="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NETFLIX CUSTOMER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kern="0" spc="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ANALYTICS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Behaviour, Churn Analysis &amp; Retention Strategy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data analytics project focused on understanding customer behaviour, engagement and churn.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080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   ·   POWER BI  ·  SQL  ·  PYTHON / PANDAS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This Analysis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businesses live or die by retention. Every customer who cancels represents lost recurring revenue and a rising cost of re-acquisition. This project treats Netflix customer data as a real-world retention problem: understanding who churns, why, and what the business can do about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7340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434840" y="2734056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customers cancel, and how does churn vary across the customer base?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538728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4838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34840" y="3483864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patterns separate customers who stay from those who leave?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2336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&amp; Engagement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34840" y="423367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viewing habits and session activity relate to loyalty?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038344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5038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983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Characteristics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34840" y="498348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traits are associated with a higher likelihood of cancelling?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788152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5788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57332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Strategy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434840" y="5733288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these patterns inform practical, evidence-based retention actions?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DATASET &amp; ANALYTICAL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Was Analysed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was built to explore the relationships between customer characteristics, engagement behaviour and churn — using SQL for data preparation, Pandas for exploration, and Power BI for interactive analysis.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35280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27706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697480"/>
            <a:ext cx="280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98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Basic, Standard, Premium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67200" y="2606040"/>
            <a:ext cx="335280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31792" y="27706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78680" y="2697480"/>
            <a:ext cx="280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Status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50080" y="3063240"/>
            <a:ext cx="298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vs. cancelled customers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94320" y="2606040"/>
            <a:ext cx="335280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58912" y="27706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05800" y="2697480"/>
            <a:ext cx="280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77200" y="3063240"/>
            <a:ext cx="298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913632"/>
            <a:ext cx="335280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" y="40782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1560" y="4005072"/>
            <a:ext cx="280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Type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370832"/>
            <a:ext cx="298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TV, mobile, laptop, tablet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67200" y="3913632"/>
            <a:ext cx="335280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31792" y="40782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78680" y="4005072"/>
            <a:ext cx="280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50080" y="4370832"/>
            <a:ext cx="298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 segments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94320" y="3913632"/>
            <a:ext cx="335280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58912" y="40782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05800" y="4005072"/>
            <a:ext cx="280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77200" y="4370832"/>
            <a:ext cx="298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vs. films consumed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221224"/>
            <a:ext cx="335280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4672" y="538581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51560" y="5312664"/>
            <a:ext cx="280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Time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5678424"/>
            <a:ext cx="298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minutes per session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67200" y="5221224"/>
            <a:ext cx="335280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431792" y="538581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78680" y="5312664"/>
            <a:ext cx="280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Behaviour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450080" y="5678424"/>
            <a:ext cx="298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&amp; engagement patterns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94320" y="5221224"/>
            <a:ext cx="335280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058912" y="538581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05800" y="5312664"/>
            <a:ext cx="280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 Fee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77200" y="5678424"/>
            <a:ext cx="298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customer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Findings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22320" cy="160020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286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17.22%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865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 across all customers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82440" y="1874520"/>
            <a:ext cx="3322320" cy="160020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11040" y="2011680"/>
            <a:ext cx="286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25.23%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11040" y="2788920"/>
            <a:ext cx="2865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— Basic plan (highest)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24800" y="1874520"/>
            <a:ext cx="3322320" cy="160020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53400" y="2011680"/>
            <a:ext cx="286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7.58%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153400" y="2788920"/>
            <a:ext cx="2865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— Premium plan (lowest)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3322320" cy="160020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931920"/>
            <a:ext cx="286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54.81%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68680" y="4709160"/>
            <a:ext cx="2865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content consumption is series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82440" y="3794760"/>
            <a:ext cx="3322320" cy="160020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11040" y="3931920"/>
            <a:ext cx="286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TV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511040" y="4709160"/>
            <a:ext cx="2865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device category by usage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24800" y="3794760"/>
            <a:ext cx="3322320" cy="160020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53400" y="3931920"/>
            <a:ext cx="286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↓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153400" y="4709160"/>
            <a:ext cx="2865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customers show lower avg. watch time than active customers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INSIGHT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Subscription Plan &amp; Churn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Lower-tier plans churn at more than 3x the rate of Premium.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shows a strong association between subscription tier and churn. This does not mean the plan itself causes cancellation — but it does suggest that Basic subscribers are a meaningfully higher-risk group, possibly reflecting lower price commitment, lighter engagement, or a weaker sense of value from the plan.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44171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subscribers represent the single largest retention opportunity in the customer base — a small reduction in their churn rate would meaningfully improve overall retention.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989320" y="1691640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INSIGHT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Engagement &amp; Churn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engagement lines up with a higher likelihood of cancelling.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average noticeably longer watch sessions than customers who have cancelled. While this is an observed relationship rather than a proven cause, engagement is a practical early-warning signal: customers who watch less may be disengaging before they formally cancel.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4937760" cy="1645920"/>
          </a:xfrm>
          <a:prstGeom prst="roundRect">
            <a:avLst>
              <a:gd name="adj" fmla="val 4444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CAN BE USED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 in session watch time could serve as an early indicator inside a churn-risk model — flagging customers for proactive retention outreach before they cancel.</a:t>
            </a:r>
            <a:endParaRPr lang="en-US" sz="11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989320" y="1691640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INSIGHT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Behaviour &amp; Segmentation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51206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080760" y="1691640"/>
          <a:ext cx="51206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640080" y="3931920"/>
          <a:ext cx="51206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 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958BD9-1B24-4CC9-B77E-4F926D4390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758" y="4130757"/>
            <a:ext cx="3889826" cy="20712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BUSINESS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Insight to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47651" y="1840463"/>
            <a:ext cx="44933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retention campaigns for Basic subscribers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19800" y="1869948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churn (25.23%) is over 3x Premium.
</a:t>
            </a: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reduces the largest source of churn.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74777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low-engagement customers for personalisation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19800" y="2719080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customers show lower avg. watch time.
</a:t>
            </a: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Re-engages at-risk customers before they leave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575304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643884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targeted upgrade offers for Basic subscribers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19800" y="3670056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Higher-tier plans churn far less.
</a:t>
            </a: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shift customers toward stickier plans.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471416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54942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engagement as a churn-risk signal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19800" y="4590288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Watch-time gap between active &amp; cancelled customers.
</a:t>
            </a: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 predictive risk model.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367528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5436108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analysing content preferences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19800" y="5472918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dominate consumption (54.81%).
</a:t>
            </a: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personalisation and content investment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Dashboard to Data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is a foundation, not an endpoint. The natural next step is to move from descriptive analysis toward predictive and experimental approaches.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2615184"/>
            <a:ext cx="365760" cy="36576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2615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46888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customer churn prediction model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46888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91072" y="2615184"/>
            <a:ext cx="365760" cy="36576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91072" y="2615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246888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customer risk scores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4672" y="3529584"/>
            <a:ext cx="365760" cy="36576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" y="3529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38328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cohort analysis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338328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91072" y="3529584"/>
            <a:ext cx="365760" cy="36576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91072" y="3529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2280" y="338328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customer lifetime value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4672" y="4443984"/>
            <a:ext cx="365760" cy="36576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4672" y="4443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429768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Basic customers churn more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429768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91072" y="4443984"/>
            <a:ext cx="365760" cy="36576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91072" y="4443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12280" y="429768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retention trends over time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21208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4672" y="5358384"/>
            <a:ext cx="365760" cy="36576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4672" y="5358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521208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retention strategies using A/B testing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E5091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FINAL 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Story in Three Points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54480" y="1993392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significantly higher among Basic subscribers.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54480" y="2953512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customer engagement is associated with cancellation.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54480" y="3913632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data can be used to identify retention opportunities.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5074920"/>
            <a:ext cx="10241280" cy="0"/>
          </a:xfrm>
          <a:prstGeom prst="line">
            <a:avLst/>
          </a:prstGeom>
          <a:noFill/>
          <a:ln w="12700">
            <a:solidFill>
              <a:srgbClr val="22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CUSTOMER ANALYTICS  ·  PORTFOLIO PROJECT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852</Words>
  <Application>Microsoft Office PowerPoint</Application>
  <PresentationFormat>Widescreen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Daliriazar</cp:lastModifiedBy>
  <cp:revision>1</cp:revision>
  <dcterms:created xsi:type="dcterms:W3CDTF">2026-08-28T13:19:00Z</dcterms:created>
  <dcterms:modified xsi:type="dcterms:W3CDTF">2026-08-28T13:43:55Z</dcterms:modified>
</cp:coreProperties>
</file>